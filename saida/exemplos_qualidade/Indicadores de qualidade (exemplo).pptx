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Indicadores de qualidade e segurança em anestesia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sem filtros além do período</a:t>
            </a:r>
          </a:p>
        </p:txBody>
      </p:sp>
      <p:sp>
        <p:nvSpPr>
          <p:cNvPr id="4" name="Rótulos"/>
          <p:cNvSpPr txBox="1"/>
          <p:nvPr/>
        </p:nvSpPr>
        <p:spPr>
          <a:xfrm>
            <a:off x="576000" y="1224000"/>
            <a:ext cx="5544000" cy="18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600" dirty="0">
                <a:solidFill>
                  <a:srgbClr val="1B2430"/>
                </a:solidFill>
              </a:rPr>
              <a:t>Atendimentos com ficha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Fichas concluídas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Fichas com revisão clínica</a:t>
            </a:r>
          </a:p>
          <a:p>
            <a:pPr algn="l"/>
            <a:r>
              <a:rPr lang="pt-BR" sz="1600" b="1" dirty="0">
                <a:solidFill>
                  <a:srgbClr val="1B2430"/>
                </a:solidFill>
              </a:rPr>
              <a:t>Fichas incompletas</a:t>
            </a:r>
          </a:p>
          <a:p>
            <a:pPr algn="l"/>
            <a:r>
              <a:rPr lang="pt-BR" sz="1600" b="1" dirty="0">
                <a:solidFill>
                  <a:srgbClr val="1B2430"/>
                </a:solidFill>
              </a:rPr>
              <a:t>Acompanhamentos em aberto</a:t>
            </a:r>
          </a:p>
        </p:txBody>
      </p:sp>
      <p:sp>
        <p:nvSpPr>
          <p:cNvPr id="5" name="Valores"/>
          <p:cNvSpPr txBox="1"/>
          <p:nvPr/>
        </p:nvSpPr>
        <p:spPr>
          <a:xfrm>
            <a:off x="6264000" y="1224000"/>
            <a:ext cx="4860000" cy="18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600" b="1" dirty="0">
                <a:solidFill>
                  <a:srgbClr val="15563F"/>
                </a:solidFill>
              </a:rPr>
              <a:t>18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14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3</a:t>
            </a:r>
          </a:p>
          <a:p>
            <a:pPr algn="l"/>
            <a:r>
              <a:rPr lang="pt-BR" sz="1600" b="1" dirty="0">
                <a:solidFill>
                  <a:srgbClr val="8C2F39"/>
                </a:solidFill>
              </a:rPr>
              <a:t>4</a:t>
            </a:r>
          </a:p>
          <a:p>
            <a:pPr algn="l"/>
            <a:r>
              <a:rPr lang="pt-BR" sz="1600" b="1" dirty="0">
                <a:solidFill>
                  <a:srgbClr val="8C2F39"/>
                </a:solidFill>
              </a:rPr>
              <a:t>4</a:t>
            </a:r>
          </a:p>
        </p:txBody>
      </p:sp>
      <p:sp>
        <p:nvSpPr>
          <p:cNvPr id="6" name="Texto"/>
          <p:cNvSpPr txBox="1"/>
          <p:nvPr/>
        </p:nvSpPr>
        <p:spPr>
          <a:xfrm>
            <a:off x="576000" y="3186000"/>
            <a:ext cx="10548000" cy="239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100" dirty="0">
                <a:solidFill>
                  <a:srgbClr val="4B5563"/>
                </a:solidFill>
              </a:rPr>
              <a:t>As definições clínicas ainda não foram aprovadas pelo responsável técnico; os limiares em uso são os padrão do sistema.</a:t>
            </a:r>
          </a:p>
        </p:txBody>
      </p:sp>
      <p:sp>
        <p:nvSpPr>
          <p:cNvPr id="7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Mortalidade e morbidade grave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23616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Óbito em até 24 horas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  (3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Óbito em até 48 horas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  (3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Óbito em até 30 dias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b="1" dirty="0">
                          <a:solidFill>
                            <a:srgbClr val="8C2F39"/>
                          </a:solidFill>
                        </a:rPr>
                        <a:t>11  (4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Parada cardiorrespiratória na sala cirúrgica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Despertar intraoperatório com recordação explícita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  (2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Disfunção neurológica perioperatória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  (3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Intubação ou ventilação difícil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Complicações respiratórias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14760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Intubação esofágica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Broncoaspiração pulmonar perioperatória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Reintubação não planejada em até 24 horas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Hipoxemia intraoperatória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13,3%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Complicações cardiovasculares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14760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Hipotensão intraoperatória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Hipertensão grave no intraoperatório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Isquemia ou infarto do miocárdio perioperatório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  (3 s/ acomp.)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Vasopressor não planejado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13,3%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Outros desfechos clínicos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23616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Náusea pós-operatória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4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Vômito pós-operatório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13,3%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Dor forte na SRPA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13,3%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Hipotermia na chegada à SRPA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20%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Bloqueio neuromuscular residual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Lesão de córnea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Lesão relacionada ao posicionamento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Processo  (1/2)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29520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Checklist de segurança cirúrgica completo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86,7%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Capnografia contínua quando indicada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Profilaxia antibiótica no tempo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86,7%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Monitorização de profundidade quando indicada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76,9%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Adesão ao protocolo de via aérea difícil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Carrinho de via aérea difícil checado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Avaliação pré-anestésica documentada e completa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86,7%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Medidas de prevenção de hipotermia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73,3%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11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Jejum pré-operatório adequado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Processo  (2/2)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taxa = numerador ÷ denominador; o que ficou sem informação não entra na conta</a:t>
            </a:r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76000" y="1224000"/>
          <a:ext cx="10548000" cy="1771200"/>
        </p:xfrm>
        <a:graphic>
          <a:graphicData uri="http://schemas.openxmlformats.org/drawingml/2006/table">
            <a:tbl>
              <a:tblPr firstRow="1"/>
              <a:tblGrid>
                <a:gridCol w="4896000"/>
                <a:gridCol w="1152000"/>
                <a:gridCol w="1296000"/>
                <a:gridCol w="1440000"/>
                <a:gridCol w="1764000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Indicador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Taxa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Numerador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Denominador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050" b="1" dirty="0">
                          <a:solidFill>
                            <a:srgbClr val="15563F"/>
                          </a:solidFill>
                        </a:rPr>
                        <a:t>Sem informação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15563F"/>
                      </a:solidFill>
                      <a:prstDash val="solid"/>
                    </a:lnB>
                    <a:solidFill>
                      <a:srgbClr val="EEF2F1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Monitorização neuromuscular quando há bloqueador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76,9%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Relação TOF adequada antes da saída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90%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Profilaxia de náusea e vômito quando indicada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86,7%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0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Passagem de cuidado registrada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100%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Pesquisa de satisfação aplicada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60%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9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15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150" dirty="0">
                          <a:solidFill>
                            <a:srgbClr val="1B2430"/>
                          </a:solidFill>
                        </a:rPr>
                        <a:t>3</a:t>
                      </a:r>
                    </a:p>
                  </a:txBody>
                  <a:tcPr marL="72000" marR="7200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7DED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Estrutura e satisfação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 · 32 registro(s) de estrutura da coordenação</a:t>
            </a:r>
          </a:p>
        </p:txBody>
      </p:sp>
      <p:sp>
        <p:nvSpPr>
          <p:cNvPr id="4" name="Rótulos"/>
          <p:cNvSpPr txBox="1"/>
          <p:nvPr/>
        </p:nvSpPr>
        <p:spPr>
          <a:xfrm>
            <a:off x="576000" y="1224000"/>
            <a:ext cx="5544000" cy="219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600" dirty="0">
                <a:solidFill>
                  <a:srgbClr val="1B2430"/>
                </a:solidFill>
              </a:rPr>
              <a:t>Carro de parada checado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Sangue e hemoderivados disponíveis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Anestesiologistas por sala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Treinamentos e simulações no período</a:t>
            </a:r>
          </a:p>
          <a:p>
            <a:pPr algn="l"/>
            <a:r>
              <a:rPr lang="pt-BR" sz="1600" b="1" dirty="0">
                <a:solidFill>
                  <a:srgbClr val="1B2430"/>
                </a:solidFill>
              </a:rPr>
              <a:t>Equipamento essencial com registro de indisponibilidade</a:t>
            </a:r>
          </a:p>
          <a:p>
            <a:pPr algn="l"/>
            <a:r>
              <a:rPr lang="pt-BR" sz="1600" dirty="0">
                <a:solidFill>
                  <a:srgbClr val="1B2430"/>
                </a:solidFill>
              </a:rPr>
              <a:t>Satisfação do paciente (nota média)</a:t>
            </a:r>
          </a:p>
        </p:txBody>
      </p:sp>
      <p:sp>
        <p:nvSpPr>
          <p:cNvPr id="5" name="Valores"/>
          <p:cNvSpPr txBox="1"/>
          <p:nvPr/>
        </p:nvSpPr>
        <p:spPr>
          <a:xfrm>
            <a:off x="6264000" y="1224000"/>
            <a:ext cx="4860000" cy="219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600" b="1" dirty="0">
                <a:solidFill>
                  <a:srgbClr val="15563F"/>
                </a:solidFill>
              </a:rPr>
              <a:t>87,5%   (28/32)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100%   (32/32)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1,59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2</a:t>
            </a:r>
          </a:p>
          <a:p>
            <a:pPr algn="l"/>
            <a:r>
              <a:rPr lang="pt-BR" sz="1600" b="1" dirty="0">
                <a:solidFill>
                  <a:srgbClr val="8C2F39"/>
                </a:solidFill>
              </a:rPr>
              <a:t>2 item(ns)</a:t>
            </a:r>
          </a:p>
          <a:p>
            <a:pPr algn="l"/>
            <a:r>
              <a:rPr lang="pt-BR" sz="1600" b="1" dirty="0">
                <a:solidFill>
                  <a:srgbClr val="15563F"/>
                </a:solidFill>
              </a:rPr>
              <a:t>8,6   (9 resposta(s))</a:t>
            </a:r>
          </a:p>
        </p:txBody>
      </p:sp>
      <p:sp>
        <p:nvSpPr>
          <p:cNvPr id="6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576000" y="360000"/>
            <a:ext cx="10548000" cy="57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2400" b="1" dirty="0">
                <a:solidFill>
                  <a:srgbClr val="15563F"/>
                </a:solidFill>
              </a:rPr>
              <a:t>Como ler estes números</a:t>
            </a:r>
          </a:p>
        </p:txBody>
      </p:sp>
      <p:sp>
        <p:nvSpPr>
          <p:cNvPr id="3" name="Subtítulo"/>
          <p:cNvSpPr txBox="1"/>
          <p:nvPr/>
        </p:nvSpPr>
        <p:spPr>
          <a:xfrm>
            <a:off x="576000" y="864000"/>
            <a:ext cx="10548000" cy="360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200" dirty="0">
                <a:solidFill>
                  <a:srgbClr val="6B7280"/>
                </a:solidFill>
              </a:rPr>
              <a:t>todo o período</a:t>
            </a:r>
          </a:p>
        </p:txBody>
      </p:sp>
      <p:sp>
        <p:nvSpPr>
          <p:cNvPr id="4" name="Texto"/>
          <p:cNvSpPr txBox="1"/>
          <p:nvPr/>
        </p:nvSpPr>
        <p:spPr>
          <a:xfrm>
            <a:off x="576000" y="1224000"/>
            <a:ext cx="10548000" cy="4356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1100" dirty="0">
                <a:solidFill>
                  <a:srgbClr val="4B5563"/>
                </a:solidFill>
              </a:rPr>
              <a:t>Dado ausente não é resultado negativo: fica em "sem informação", fora do numerador e fora do denominador.</a:t>
            </a:r>
          </a:p>
          <a:p>
            <a:pPr algn="l"/>
            <a:r>
              <a:rPr lang="pt-BR" sz="1100" dirty="0">
                <a:solidFill>
                  <a:srgbClr val="4B5563"/>
                </a:solidFill>
              </a:rPr>
              <a:t>O denominador de cada indicador é a sua população elegível com informação, não o total de atendimentos.</a:t>
            </a:r>
          </a:p>
          <a:p>
            <a:pPr algn="l"/>
            <a:r>
              <a:rPr lang="pt-BR" sz="1100" dirty="0">
                <a:solidFill>
                  <a:srgbClr val="4B5563"/>
                </a:solidFill>
              </a:rPr>
              <a:t>A atribuição de um evento à anestesia é avaliação clínica registrada evento a evento; o sistema não presume causalidade.</a:t>
            </a:r>
          </a:p>
          <a:p>
            <a:pPr algn="l"/>
            <a:r>
              <a:rPr lang="pt-BR" sz="1100" dirty="0">
                <a:solidFill>
                  <a:srgbClr val="4B5563"/>
                </a:solidFill>
              </a:rPr>
              <a:t>Comparações entre profissionais exigem considerar ASA, caráter do procedimento e volume.</a:t>
            </a:r>
          </a:p>
          <a:p>
            <a:pPr algn="l"/>
            <a:r>
              <a:rPr lang="pt-BR" sz="1100" dirty="0">
                <a:solidFill>
                  <a:srgbClr val="4B5563"/>
                </a:solidFill>
              </a:rPr>
              <a:t>Indicador sem fonte registrada aparece sem referência normativa — é a coordenação que registra fonte, versão e data.</a:t>
            </a:r>
          </a:p>
        </p:txBody>
      </p:sp>
      <p:sp>
        <p:nvSpPr>
          <p:cNvPr id="5" name="Rodapé"/>
          <p:cNvSpPr txBox="1"/>
          <p:nvPr/>
        </p:nvSpPr>
        <p:spPr>
          <a:xfrm>
            <a:off x="576000" y="5832000"/>
            <a:ext cx="10548000" cy="28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pt-BR" sz="900" dirty="0">
                <a:solidFill>
                  <a:srgbClr val="9CA3AF"/>
                </a:solidFill>
              </a:rPr>
              <a:t>Sistema de Gestão e Escala de Anestesia · gerado em 29/09/2026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estesia">
  <a:themeElements>
    <a:clrScheme name="Anestesia">
      <a:dk1>
        <a:srgbClr val="1B2430"/>
      </a:dk1>
      <a:lt1>
        <a:srgbClr val="FFFFFF"/>
      </a:lt1>
      <a:dk2>
        <a:srgbClr val="15563F"/>
      </a:dk2>
      <a:lt2>
        <a:srgbClr val="EEF2F1"/>
      </a:lt2>
      <a:accent1>
        <a:srgbClr val="15563F"/>
      </a:accent1>
      <a:accent2>
        <a:srgbClr val="2E7D62"/>
      </a:accent2>
      <a:accent3>
        <a:srgbClr val="B8860B"/>
      </a:accent3>
      <a:accent4>
        <a:srgbClr val="8C2F39"/>
      </a:accent4>
      <a:accent5>
        <a:srgbClr val="2F5D8C"/>
      </a:accent5>
      <a:accent6>
        <a:srgbClr val="6B7280"/>
      </a:accent6>
      <a:hlink>
        <a:srgbClr val="2F5D8C"/>
      </a:hlink>
      <a:folHlink>
        <a:srgbClr val="6B7280"/>
      </a:folHlink>
    </a:clrScheme>
    <a:fontScheme name="Anestesi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nestesia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Sistema de Gestão e Escala de Anestesia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Indicadores de qualidade (exemplo)</dc:title>
  <dc:creator>Sistema de Gestão e Escala de Anestesia</dc:creator>
  <cp:lastModifiedBy>Sistema de Gestão e Escala de Anestesia</cp:lastModifiedBy>
  <dcterms:created xsi:type="dcterms:W3CDTF">2026-09-29T15:14:16Z</dcterms:created>
  <dcterms:modified xsi:type="dcterms:W3CDTF">2026-09-29T15:14:16Z</dcterms:modified>
</cp:coreProperties>
</file>